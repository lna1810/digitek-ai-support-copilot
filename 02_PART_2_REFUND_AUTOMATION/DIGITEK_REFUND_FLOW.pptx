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</p:sldIdLst>
  <p:sldSz cx="18288000" cy="10287000"/>
  <p:notesSz cx="6858000" cy="9144000"/>
  <p:embeddedFontLst>
    <p:embeddedFont>
      <p:font typeface="Canva Sans Bold" panose="020B0604020202020204" charset="0"/>
      <p:regular r:id="rId9"/>
    </p:embeddedFont>
    <p:embeddedFont>
      <p:font typeface="Telegraf" panose="020B0604020202020204" charset="0"/>
      <p:regular r:id="rId10"/>
    </p:embeddedFont>
    <p:embeddedFont>
      <p:font typeface="Telegraf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2" autoAdjust="0"/>
  </p:normalViewPr>
  <p:slideViewPr>
    <p:cSldViewPr>
      <p:cViewPr varScale="1">
        <p:scale>
          <a:sx n="54" d="100"/>
          <a:sy n="54" d="100"/>
        </p:scale>
        <p:origin x="78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74914" y="-5704097"/>
            <a:ext cx="9453773" cy="9453773"/>
          </a:xfrm>
          <a:custGeom>
            <a:avLst/>
            <a:gdLst/>
            <a:ahLst/>
            <a:cxnLst/>
            <a:rect l="l" t="t" r="r" b="b"/>
            <a:pathLst>
              <a:path w="9453773" h="9453773">
                <a:moveTo>
                  <a:pt x="0" y="0"/>
                </a:moveTo>
                <a:lnTo>
                  <a:pt x="9453773" y="0"/>
                </a:lnTo>
                <a:lnTo>
                  <a:pt x="9453773" y="9453772"/>
                </a:lnTo>
                <a:lnTo>
                  <a:pt x="0" y="9453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43692" y="6356351"/>
            <a:ext cx="9453773" cy="9453773"/>
          </a:xfrm>
          <a:custGeom>
            <a:avLst/>
            <a:gdLst/>
            <a:ahLst/>
            <a:cxnLst/>
            <a:rect l="l" t="t" r="r" b="b"/>
            <a:pathLst>
              <a:path w="9453773" h="9453773">
                <a:moveTo>
                  <a:pt x="0" y="0"/>
                </a:moveTo>
                <a:lnTo>
                  <a:pt x="9453773" y="0"/>
                </a:lnTo>
                <a:lnTo>
                  <a:pt x="9453773" y="9453772"/>
                </a:lnTo>
                <a:lnTo>
                  <a:pt x="0" y="9453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234043" y="3486265"/>
            <a:ext cx="526821" cy="52682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99110" y="313690"/>
                  </a:lnTo>
                  <a:lnTo>
                    <a:pt x="812800" y="406400"/>
                  </a:lnTo>
                  <a:lnTo>
                    <a:pt x="499110" y="499110"/>
                  </a:lnTo>
                  <a:lnTo>
                    <a:pt x="406400" y="812800"/>
                  </a:lnTo>
                  <a:lnTo>
                    <a:pt x="313690" y="499110"/>
                  </a:lnTo>
                  <a:lnTo>
                    <a:pt x="0" y="406400"/>
                  </a:lnTo>
                  <a:lnTo>
                    <a:pt x="313690" y="313690"/>
                  </a:ln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313539" y="246864"/>
              <a:ext cx="185722" cy="252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12540" y="800100"/>
            <a:ext cx="271594" cy="228600"/>
          </a:xfrm>
          <a:custGeom>
            <a:avLst/>
            <a:gdLst/>
            <a:ahLst/>
            <a:cxnLst/>
            <a:rect l="l" t="t" r="r" b="b"/>
            <a:pathLst>
              <a:path w="271594" h="228600">
                <a:moveTo>
                  <a:pt x="0" y="0"/>
                </a:moveTo>
                <a:lnTo>
                  <a:pt x="271593" y="0"/>
                </a:lnTo>
                <a:lnTo>
                  <a:pt x="27159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527136" y="3835400"/>
            <a:ext cx="9233728" cy="396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DIGITEK </a:t>
            </a:r>
          </a:p>
          <a:p>
            <a:pPr algn="ctr">
              <a:lnSpc>
                <a:spcPts val="9999"/>
              </a:lnSpc>
            </a:pPr>
            <a:endParaRPr lang="en-US" sz="9999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ctr">
              <a:lnSpc>
                <a:spcPts val="9999"/>
              </a:lnSpc>
            </a:pPr>
            <a:r>
              <a:rPr lang="en-US" sz="9999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27136" y="5200650"/>
            <a:ext cx="9233728" cy="115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REFUND 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17990" y="809625"/>
            <a:ext cx="314131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AUTOMATION • 2026</a:t>
            </a:r>
          </a:p>
          <a:p>
            <a:pPr algn="r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r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117990" y="9039225"/>
            <a:ext cx="314131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Implementation &amp; Automation Intern Assessment</a:t>
            </a:r>
          </a:p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Digitek Camera Accessories</a:t>
            </a:r>
          </a:p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By LEISHA NAMPALLY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5826" y="800100"/>
            <a:ext cx="3449156" cy="53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"/>
              </a:lnSpc>
            </a:pPr>
            <a:r>
              <a:rPr lang="en-US" sz="1321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AI-Powered Returns &amp; Refund Automation</a:t>
            </a:r>
          </a:p>
          <a:p>
            <a:pPr algn="l">
              <a:lnSpc>
                <a:spcPts val="1321"/>
              </a:lnSpc>
            </a:pPr>
            <a:endParaRPr lang="en-US" sz="1321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1321"/>
              </a:lnSpc>
            </a:pPr>
            <a:endParaRPr lang="en-US" sz="1321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42514" y="9267825"/>
            <a:ext cx="5535781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Faster triage. Safer decisions. Human control where it matters.</a:t>
            </a: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58756" y="-2133580"/>
            <a:ext cx="9453773" cy="9453773"/>
          </a:xfrm>
          <a:custGeom>
            <a:avLst/>
            <a:gdLst/>
            <a:ahLst/>
            <a:cxnLst/>
            <a:rect l="l" t="t" r="r" b="b"/>
            <a:pathLst>
              <a:path w="9453773" h="9453773">
                <a:moveTo>
                  <a:pt x="0" y="0"/>
                </a:moveTo>
                <a:lnTo>
                  <a:pt x="9453772" y="0"/>
                </a:lnTo>
                <a:lnTo>
                  <a:pt x="9453772" y="9453773"/>
                </a:lnTo>
                <a:lnTo>
                  <a:pt x="0" y="9453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17990" y="809625"/>
            <a:ext cx="314131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AUTOMATION • 2026</a:t>
            </a:r>
          </a:p>
          <a:p>
            <a:pPr algn="r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r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897119" y="2631719"/>
            <a:ext cx="6942572" cy="89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00"/>
              </a:lnSpc>
            </a:pPr>
            <a:r>
              <a:rPr lang="en-US" sz="62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Today: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97119" y="3350424"/>
            <a:ext cx="6942572" cy="167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00"/>
              </a:lnSpc>
            </a:pPr>
            <a:r>
              <a:rPr lang="en-US" sz="620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Refund Journey Is Manual</a:t>
            </a:r>
          </a:p>
        </p:txBody>
      </p:sp>
      <p:sp>
        <p:nvSpPr>
          <p:cNvPr id="6" name="Freeform 6"/>
          <p:cNvSpPr/>
          <p:nvPr/>
        </p:nvSpPr>
        <p:spPr>
          <a:xfrm>
            <a:off x="9897119" y="5562116"/>
            <a:ext cx="8870496" cy="8870496"/>
          </a:xfrm>
          <a:custGeom>
            <a:avLst/>
            <a:gdLst/>
            <a:ahLst/>
            <a:cxnLst/>
            <a:rect l="l" t="t" r="r" b="b"/>
            <a:pathLst>
              <a:path w="8870496" h="8870496">
                <a:moveTo>
                  <a:pt x="0" y="0"/>
                </a:moveTo>
                <a:lnTo>
                  <a:pt x="8870496" y="0"/>
                </a:lnTo>
                <a:lnTo>
                  <a:pt x="8870496" y="8870496"/>
                </a:lnTo>
                <a:lnTo>
                  <a:pt x="0" y="8870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60445" y="1512834"/>
            <a:ext cx="7386146" cy="1423815"/>
            <a:chOff x="0" y="0"/>
            <a:chExt cx="1945322" cy="3749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45323" cy="374997"/>
            </a:xfrm>
            <a:custGeom>
              <a:avLst/>
              <a:gdLst/>
              <a:ahLst/>
              <a:cxnLst/>
              <a:rect l="l" t="t" r="r" b="b"/>
              <a:pathLst>
                <a:path w="1945323" h="374997">
                  <a:moveTo>
                    <a:pt x="24108" y="0"/>
                  </a:moveTo>
                  <a:lnTo>
                    <a:pt x="1921215" y="0"/>
                  </a:lnTo>
                  <a:cubicBezTo>
                    <a:pt x="1934529" y="0"/>
                    <a:pt x="1945323" y="10793"/>
                    <a:pt x="1945323" y="24108"/>
                  </a:cubicBezTo>
                  <a:lnTo>
                    <a:pt x="1945323" y="350889"/>
                  </a:lnTo>
                  <a:cubicBezTo>
                    <a:pt x="1945323" y="357283"/>
                    <a:pt x="1942783" y="363414"/>
                    <a:pt x="1938262" y="367936"/>
                  </a:cubicBezTo>
                  <a:cubicBezTo>
                    <a:pt x="1933740" y="372457"/>
                    <a:pt x="1927609" y="374997"/>
                    <a:pt x="1921215" y="374997"/>
                  </a:cubicBezTo>
                  <a:lnTo>
                    <a:pt x="24108" y="374997"/>
                  </a:lnTo>
                  <a:cubicBezTo>
                    <a:pt x="10793" y="374997"/>
                    <a:pt x="0" y="364203"/>
                    <a:pt x="0" y="350889"/>
                  </a:cubicBezTo>
                  <a:lnTo>
                    <a:pt x="0" y="24108"/>
                  </a:lnTo>
                  <a:cubicBezTo>
                    <a:pt x="0" y="10793"/>
                    <a:pt x="10793" y="0"/>
                    <a:pt x="24108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945322" cy="441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60445" y="3412712"/>
            <a:ext cx="7386146" cy="1423815"/>
            <a:chOff x="0" y="0"/>
            <a:chExt cx="1945322" cy="3749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45323" cy="374997"/>
            </a:xfrm>
            <a:custGeom>
              <a:avLst/>
              <a:gdLst/>
              <a:ahLst/>
              <a:cxnLst/>
              <a:rect l="l" t="t" r="r" b="b"/>
              <a:pathLst>
                <a:path w="1945323" h="374997">
                  <a:moveTo>
                    <a:pt x="24108" y="0"/>
                  </a:moveTo>
                  <a:lnTo>
                    <a:pt x="1921215" y="0"/>
                  </a:lnTo>
                  <a:cubicBezTo>
                    <a:pt x="1934529" y="0"/>
                    <a:pt x="1945323" y="10793"/>
                    <a:pt x="1945323" y="24108"/>
                  </a:cubicBezTo>
                  <a:lnTo>
                    <a:pt x="1945323" y="350889"/>
                  </a:lnTo>
                  <a:cubicBezTo>
                    <a:pt x="1945323" y="357283"/>
                    <a:pt x="1942783" y="363414"/>
                    <a:pt x="1938262" y="367936"/>
                  </a:cubicBezTo>
                  <a:cubicBezTo>
                    <a:pt x="1933740" y="372457"/>
                    <a:pt x="1927609" y="374997"/>
                    <a:pt x="1921215" y="374997"/>
                  </a:cubicBezTo>
                  <a:lnTo>
                    <a:pt x="24108" y="374997"/>
                  </a:lnTo>
                  <a:cubicBezTo>
                    <a:pt x="10793" y="374997"/>
                    <a:pt x="0" y="364203"/>
                    <a:pt x="0" y="350889"/>
                  </a:cubicBezTo>
                  <a:lnTo>
                    <a:pt x="0" y="24108"/>
                  </a:lnTo>
                  <a:cubicBezTo>
                    <a:pt x="0" y="10793"/>
                    <a:pt x="10793" y="0"/>
                    <a:pt x="24108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945322" cy="441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60445" y="5312777"/>
            <a:ext cx="7386146" cy="1423815"/>
            <a:chOff x="0" y="0"/>
            <a:chExt cx="1945322" cy="3749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45323" cy="374997"/>
            </a:xfrm>
            <a:custGeom>
              <a:avLst/>
              <a:gdLst/>
              <a:ahLst/>
              <a:cxnLst/>
              <a:rect l="l" t="t" r="r" b="b"/>
              <a:pathLst>
                <a:path w="1945323" h="374997">
                  <a:moveTo>
                    <a:pt x="24108" y="0"/>
                  </a:moveTo>
                  <a:lnTo>
                    <a:pt x="1921215" y="0"/>
                  </a:lnTo>
                  <a:cubicBezTo>
                    <a:pt x="1934529" y="0"/>
                    <a:pt x="1945323" y="10793"/>
                    <a:pt x="1945323" y="24108"/>
                  </a:cubicBezTo>
                  <a:lnTo>
                    <a:pt x="1945323" y="350889"/>
                  </a:lnTo>
                  <a:cubicBezTo>
                    <a:pt x="1945323" y="357283"/>
                    <a:pt x="1942783" y="363414"/>
                    <a:pt x="1938262" y="367936"/>
                  </a:cubicBezTo>
                  <a:cubicBezTo>
                    <a:pt x="1933740" y="372457"/>
                    <a:pt x="1927609" y="374997"/>
                    <a:pt x="1921215" y="374997"/>
                  </a:cubicBezTo>
                  <a:lnTo>
                    <a:pt x="24108" y="374997"/>
                  </a:lnTo>
                  <a:cubicBezTo>
                    <a:pt x="10793" y="374997"/>
                    <a:pt x="0" y="364203"/>
                    <a:pt x="0" y="350889"/>
                  </a:cubicBezTo>
                  <a:lnTo>
                    <a:pt x="0" y="24108"/>
                  </a:lnTo>
                  <a:cubicBezTo>
                    <a:pt x="0" y="10793"/>
                    <a:pt x="10793" y="0"/>
                    <a:pt x="24108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945322" cy="441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60445" y="7350351"/>
            <a:ext cx="7386146" cy="1423815"/>
            <a:chOff x="0" y="0"/>
            <a:chExt cx="1945322" cy="3749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45323" cy="374997"/>
            </a:xfrm>
            <a:custGeom>
              <a:avLst/>
              <a:gdLst/>
              <a:ahLst/>
              <a:cxnLst/>
              <a:rect l="l" t="t" r="r" b="b"/>
              <a:pathLst>
                <a:path w="1945323" h="374997">
                  <a:moveTo>
                    <a:pt x="24108" y="0"/>
                  </a:moveTo>
                  <a:lnTo>
                    <a:pt x="1921215" y="0"/>
                  </a:lnTo>
                  <a:cubicBezTo>
                    <a:pt x="1934529" y="0"/>
                    <a:pt x="1945323" y="10793"/>
                    <a:pt x="1945323" y="24108"/>
                  </a:cubicBezTo>
                  <a:lnTo>
                    <a:pt x="1945323" y="350889"/>
                  </a:lnTo>
                  <a:cubicBezTo>
                    <a:pt x="1945323" y="357283"/>
                    <a:pt x="1942783" y="363414"/>
                    <a:pt x="1938262" y="367936"/>
                  </a:cubicBezTo>
                  <a:cubicBezTo>
                    <a:pt x="1933740" y="372457"/>
                    <a:pt x="1927609" y="374997"/>
                    <a:pt x="1921215" y="374997"/>
                  </a:cubicBezTo>
                  <a:lnTo>
                    <a:pt x="24108" y="374997"/>
                  </a:lnTo>
                  <a:cubicBezTo>
                    <a:pt x="10793" y="374997"/>
                    <a:pt x="0" y="364203"/>
                    <a:pt x="0" y="350889"/>
                  </a:cubicBezTo>
                  <a:lnTo>
                    <a:pt x="0" y="24108"/>
                  </a:lnTo>
                  <a:cubicBezTo>
                    <a:pt x="0" y="10793"/>
                    <a:pt x="10793" y="0"/>
                    <a:pt x="24108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945322" cy="441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576280" y="3083330"/>
            <a:ext cx="526821" cy="52682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99110" y="313690"/>
                  </a:lnTo>
                  <a:lnTo>
                    <a:pt x="812800" y="406400"/>
                  </a:lnTo>
                  <a:lnTo>
                    <a:pt x="499110" y="499110"/>
                  </a:lnTo>
                  <a:lnTo>
                    <a:pt x="406400" y="812800"/>
                  </a:lnTo>
                  <a:lnTo>
                    <a:pt x="313690" y="499110"/>
                  </a:lnTo>
                  <a:lnTo>
                    <a:pt x="0" y="406400"/>
                  </a:lnTo>
                  <a:lnTo>
                    <a:pt x="313690" y="313690"/>
                  </a:ln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313539" y="246864"/>
              <a:ext cx="185722" cy="252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12540" y="800100"/>
            <a:ext cx="271594" cy="228600"/>
          </a:xfrm>
          <a:custGeom>
            <a:avLst/>
            <a:gdLst/>
            <a:ahLst/>
            <a:cxnLst/>
            <a:rect l="l" t="t" r="r" b="b"/>
            <a:pathLst>
              <a:path w="271594" h="228600">
                <a:moveTo>
                  <a:pt x="0" y="0"/>
                </a:moveTo>
                <a:lnTo>
                  <a:pt x="271593" y="0"/>
                </a:lnTo>
                <a:lnTo>
                  <a:pt x="27159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85826" y="809625"/>
            <a:ext cx="386769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DIGITEK AI SUPPORT</a:t>
            </a: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871192" y="2051386"/>
            <a:ext cx="6764652" cy="66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Customer sends refund request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871192" y="7888904"/>
            <a:ext cx="6764652" cy="66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Refund/replacement is verified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71192" y="3951264"/>
            <a:ext cx="6764652" cy="66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Support reads the email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871192" y="5851329"/>
            <a:ext cx="6764652" cy="66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Order &amp; issue details are checked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638937" y="6936904"/>
            <a:ext cx="4620363" cy="245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237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WHY THIS NEEDS AUTOMATION:</a:t>
            </a:r>
          </a:p>
          <a:p>
            <a:pPr algn="ctr">
              <a:lnSpc>
                <a:spcPts val="2374"/>
              </a:lnSpc>
              <a:spcBef>
                <a:spcPct val="0"/>
              </a:spcBef>
            </a:pPr>
            <a:endParaRPr lang="en-US" sz="2374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237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6 manual steps</a:t>
            </a:r>
          </a:p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237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↓</a:t>
            </a:r>
          </a:p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237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Repetitive support work</a:t>
            </a:r>
          </a:p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237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↓</a:t>
            </a:r>
          </a:p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237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Slower response times</a:t>
            </a:r>
          </a:p>
          <a:p>
            <a:pPr algn="ctr">
              <a:lnSpc>
                <a:spcPts val="2374"/>
              </a:lnSpc>
              <a:spcBef>
                <a:spcPct val="0"/>
              </a:spcBef>
            </a:pPr>
            <a:endParaRPr lang="en-US" sz="2374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086600" y="9715500"/>
            <a:ext cx="4532471" cy="387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99"/>
              </a:lnSpc>
            </a:pPr>
            <a:r>
              <a:rPr lang="en-US" sz="1499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Refund decisions still require human judgement.</a:t>
            </a:r>
          </a:p>
          <a:p>
            <a:pPr algn="ctr">
              <a:lnSpc>
                <a:spcPts val="1499"/>
              </a:lnSpc>
              <a:spcBef>
                <a:spcPct val="0"/>
              </a:spcBef>
            </a:pPr>
            <a:endParaRPr lang="en-US" sz="1499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0959" y="-793857"/>
            <a:ext cx="10000848" cy="10000848"/>
          </a:xfrm>
          <a:custGeom>
            <a:avLst/>
            <a:gdLst/>
            <a:ahLst/>
            <a:cxnLst/>
            <a:rect l="l" t="t" r="r" b="b"/>
            <a:pathLst>
              <a:path w="10000848" h="10000848">
                <a:moveTo>
                  <a:pt x="0" y="0"/>
                </a:moveTo>
                <a:lnTo>
                  <a:pt x="10000847" y="0"/>
                </a:lnTo>
                <a:lnTo>
                  <a:pt x="10000847" y="10000848"/>
                </a:lnTo>
                <a:lnTo>
                  <a:pt x="0" y="10000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17990" y="809625"/>
            <a:ext cx="314131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AUTOMATION • 2026</a:t>
            </a:r>
          </a:p>
        </p:txBody>
      </p:sp>
      <p:sp>
        <p:nvSpPr>
          <p:cNvPr id="4" name="Freeform 4"/>
          <p:cNvSpPr/>
          <p:nvPr/>
        </p:nvSpPr>
        <p:spPr>
          <a:xfrm>
            <a:off x="1012540" y="800100"/>
            <a:ext cx="271594" cy="228600"/>
          </a:xfrm>
          <a:custGeom>
            <a:avLst/>
            <a:gdLst/>
            <a:ahLst/>
            <a:cxnLst/>
            <a:rect l="l" t="t" r="r" b="b"/>
            <a:pathLst>
              <a:path w="271594" h="228600">
                <a:moveTo>
                  <a:pt x="0" y="0"/>
                </a:moveTo>
                <a:lnTo>
                  <a:pt x="271593" y="0"/>
                </a:lnTo>
                <a:lnTo>
                  <a:pt x="27159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85826" y="809625"/>
            <a:ext cx="4322169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DIGITEK AI SUPPORT</a:t>
            </a: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5508" y="2441247"/>
            <a:ext cx="8155082" cy="783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25"/>
              </a:lnSpc>
            </a:pPr>
            <a:r>
              <a:rPr lang="en-US" sz="5425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Automate the Repetitive.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8337" y="3272076"/>
            <a:ext cx="7758174" cy="245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620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Escalate the Risky.</a:t>
            </a:r>
          </a:p>
          <a:p>
            <a:pPr algn="l">
              <a:lnSpc>
                <a:spcPts val="6200"/>
              </a:lnSpc>
            </a:pPr>
            <a:endParaRPr lang="en-US" sz="6200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6200"/>
              </a:lnSpc>
            </a:pPr>
            <a:endParaRPr lang="en-US" sz="6200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617179" y="2961040"/>
            <a:ext cx="526821" cy="5268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99110" y="313690"/>
                  </a:lnTo>
                  <a:lnTo>
                    <a:pt x="812800" y="406400"/>
                  </a:lnTo>
                  <a:lnTo>
                    <a:pt x="499110" y="499110"/>
                  </a:lnTo>
                  <a:lnTo>
                    <a:pt x="406400" y="812800"/>
                  </a:lnTo>
                  <a:lnTo>
                    <a:pt x="313690" y="499110"/>
                  </a:lnTo>
                  <a:lnTo>
                    <a:pt x="0" y="406400"/>
                  </a:lnTo>
                  <a:lnTo>
                    <a:pt x="313690" y="313690"/>
                  </a:ln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313539" y="246864"/>
              <a:ext cx="185722" cy="252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1619720" y="7339244"/>
            <a:ext cx="7023427" cy="7023427"/>
          </a:xfrm>
          <a:custGeom>
            <a:avLst/>
            <a:gdLst/>
            <a:ahLst/>
            <a:cxnLst/>
            <a:rect l="l" t="t" r="r" b="b"/>
            <a:pathLst>
              <a:path w="7023427" h="7023427">
                <a:moveTo>
                  <a:pt x="0" y="0"/>
                </a:moveTo>
                <a:lnTo>
                  <a:pt x="7023427" y="0"/>
                </a:lnTo>
                <a:lnTo>
                  <a:pt x="7023427" y="7023428"/>
                </a:lnTo>
                <a:lnTo>
                  <a:pt x="0" y="7023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4905607"/>
            <a:ext cx="7144634" cy="47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702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handles repetitive triage, extraction and routing. Humans handle decisions that require live systems, judgement or exceptions.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39725" y="1101611"/>
            <a:ext cx="3131657" cy="212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5"/>
              </a:lnSpc>
            </a:pPr>
            <a:r>
              <a:rPr lang="en-US" sz="404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HANDLES</a:t>
            </a:r>
          </a:p>
          <a:p>
            <a:pPr algn="ctr">
              <a:lnSpc>
                <a:spcPts val="5665"/>
              </a:lnSpc>
            </a:pPr>
            <a:endParaRPr lang="en-US" sz="4046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5665"/>
              </a:lnSpc>
            </a:pPr>
            <a:endParaRPr lang="en-US" sz="4046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892369" y="2021226"/>
            <a:ext cx="4077766" cy="171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9"/>
              </a:lnSpc>
              <a:spcBef>
                <a:spcPct val="0"/>
              </a:spcBef>
            </a:pPr>
            <a:r>
              <a:rPr lang="en-US" sz="260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✓ Read &amp; classify emails</a:t>
            </a:r>
          </a:p>
          <a:p>
            <a:pPr algn="ctr">
              <a:lnSpc>
                <a:spcPts val="2609"/>
              </a:lnSpc>
              <a:spcBef>
                <a:spcPct val="0"/>
              </a:spcBef>
            </a:pPr>
            <a:r>
              <a:rPr lang="en-US" sz="260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✓ Extract customer details</a:t>
            </a:r>
          </a:p>
          <a:p>
            <a:pPr algn="ctr">
              <a:lnSpc>
                <a:spcPts val="2609"/>
              </a:lnSpc>
              <a:spcBef>
                <a:spcPct val="0"/>
              </a:spcBef>
            </a:pPr>
            <a:r>
              <a:rPr lang="en-US" sz="260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✓ Detect urgency</a:t>
            </a:r>
          </a:p>
          <a:p>
            <a:pPr algn="ctr">
              <a:lnSpc>
                <a:spcPts val="2609"/>
              </a:lnSpc>
              <a:spcBef>
                <a:spcPct val="0"/>
              </a:spcBef>
            </a:pPr>
            <a:r>
              <a:rPr lang="en-US" sz="260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✓ Summarize requests</a:t>
            </a:r>
          </a:p>
          <a:p>
            <a:pPr algn="ctr">
              <a:lnSpc>
                <a:spcPts val="2609"/>
              </a:lnSpc>
              <a:spcBef>
                <a:spcPct val="0"/>
              </a:spcBef>
            </a:pPr>
            <a:r>
              <a:rPr lang="en-US" sz="260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✓ Log &amp; route cases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54707" y="5441562"/>
            <a:ext cx="4534674" cy="207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5"/>
              </a:lnSpc>
            </a:pPr>
            <a:r>
              <a:rPr lang="en-US" sz="396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HUMAN HANDLES</a:t>
            </a:r>
          </a:p>
          <a:p>
            <a:pPr algn="ctr">
              <a:lnSpc>
                <a:spcPts val="5545"/>
              </a:lnSpc>
            </a:pPr>
            <a:endParaRPr lang="en-US" sz="396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5545"/>
              </a:lnSpc>
            </a:pPr>
            <a:endParaRPr lang="en-US" sz="396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954707" y="6356718"/>
            <a:ext cx="4015428" cy="133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9"/>
              </a:lnSpc>
            </a:pPr>
            <a:r>
              <a:rPr lang="en-US" sz="253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✓ Refund decisions</a:t>
            </a:r>
          </a:p>
          <a:p>
            <a:pPr algn="ctr">
              <a:lnSpc>
                <a:spcPts val="2539"/>
              </a:lnSpc>
              <a:spcBef>
                <a:spcPct val="0"/>
              </a:spcBef>
            </a:pPr>
            <a:r>
              <a:rPr lang="en-US" sz="253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✓ Live order verification</a:t>
            </a:r>
          </a:p>
          <a:p>
            <a:pPr algn="ctr">
              <a:lnSpc>
                <a:spcPts val="2539"/>
              </a:lnSpc>
              <a:spcBef>
                <a:spcPct val="0"/>
              </a:spcBef>
            </a:pPr>
            <a:r>
              <a:rPr lang="en-US" sz="253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✓ Replacement approval</a:t>
            </a:r>
          </a:p>
          <a:p>
            <a:pPr algn="ctr">
              <a:lnSpc>
                <a:spcPts val="2539"/>
              </a:lnSpc>
              <a:spcBef>
                <a:spcPct val="0"/>
              </a:spcBef>
            </a:pPr>
            <a:r>
              <a:rPr lang="en-US" sz="253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✓ Exceptions &amp; complaints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2540" y="800100"/>
            <a:ext cx="271594" cy="228600"/>
          </a:xfrm>
          <a:custGeom>
            <a:avLst/>
            <a:gdLst/>
            <a:ahLst/>
            <a:cxnLst/>
            <a:rect l="l" t="t" r="r" b="b"/>
            <a:pathLst>
              <a:path w="271594" h="228600">
                <a:moveTo>
                  <a:pt x="0" y="0"/>
                </a:moveTo>
                <a:lnTo>
                  <a:pt x="271593" y="0"/>
                </a:lnTo>
                <a:lnTo>
                  <a:pt x="27159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85826" y="809625"/>
            <a:ext cx="314131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dirty="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Cloudlet Tech</a:t>
            </a:r>
          </a:p>
        </p:txBody>
      </p:sp>
      <p:sp>
        <p:nvSpPr>
          <p:cNvPr id="4" name="Freeform 4"/>
          <p:cNvSpPr/>
          <p:nvPr/>
        </p:nvSpPr>
        <p:spPr>
          <a:xfrm>
            <a:off x="-1058756" y="-2133580"/>
            <a:ext cx="9453773" cy="9453773"/>
          </a:xfrm>
          <a:custGeom>
            <a:avLst/>
            <a:gdLst/>
            <a:ahLst/>
            <a:cxnLst/>
            <a:rect l="l" t="t" r="r" b="b"/>
            <a:pathLst>
              <a:path w="9453773" h="9453773">
                <a:moveTo>
                  <a:pt x="0" y="0"/>
                </a:moveTo>
                <a:lnTo>
                  <a:pt x="9453772" y="0"/>
                </a:lnTo>
                <a:lnTo>
                  <a:pt x="9453772" y="9453773"/>
                </a:lnTo>
                <a:lnTo>
                  <a:pt x="0" y="94537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82029" y="5358776"/>
            <a:ext cx="7799049" cy="7799049"/>
          </a:xfrm>
          <a:custGeom>
            <a:avLst/>
            <a:gdLst/>
            <a:ahLst/>
            <a:cxnLst/>
            <a:rect l="l" t="t" r="r" b="b"/>
            <a:pathLst>
              <a:path w="7799049" h="7799049">
                <a:moveTo>
                  <a:pt x="0" y="0"/>
                </a:moveTo>
                <a:lnTo>
                  <a:pt x="7799049" y="0"/>
                </a:lnTo>
                <a:lnTo>
                  <a:pt x="7799049" y="7799048"/>
                </a:lnTo>
                <a:lnTo>
                  <a:pt x="0" y="7799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654308" y="2355189"/>
            <a:ext cx="4927365" cy="89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00"/>
              </a:lnSpc>
            </a:pPr>
            <a:r>
              <a:rPr lang="en-US" sz="62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The Digitek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54308" y="3236324"/>
            <a:ext cx="5744883" cy="323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620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AI Support Flow</a:t>
            </a:r>
          </a:p>
          <a:p>
            <a:pPr algn="l">
              <a:lnSpc>
                <a:spcPts val="6200"/>
              </a:lnSpc>
            </a:pPr>
            <a:endParaRPr lang="en-US" sz="6200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6200"/>
              </a:lnSpc>
            </a:pPr>
            <a:endParaRPr lang="en-US" sz="6200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593115" y="2776829"/>
            <a:ext cx="526821" cy="5268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99110" y="313690"/>
                  </a:lnTo>
                  <a:lnTo>
                    <a:pt x="812800" y="406400"/>
                  </a:lnTo>
                  <a:lnTo>
                    <a:pt x="499110" y="499110"/>
                  </a:lnTo>
                  <a:lnTo>
                    <a:pt x="406400" y="812800"/>
                  </a:lnTo>
                  <a:lnTo>
                    <a:pt x="313690" y="499110"/>
                  </a:lnTo>
                  <a:lnTo>
                    <a:pt x="0" y="406400"/>
                  </a:lnTo>
                  <a:lnTo>
                    <a:pt x="313690" y="313690"/>
                  </a:ln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313539" y="246864"/>
              <a:ext cx="185722" cy="252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3935" y="5695037"/>
            <a:ext cx="3825093" cy="2924024"/>
            <a:chOff x="0" y="0"/>
            <a:chExt cx="1007432" cy="7701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7432" cy="770113"/>
            </a:xfrm>
            <a:custGeom>
              <a:avLst/>
              <a:gdLst/>
              <a:ahLst/>
              <a:cxnLst/>
              <a:rect l="l" t="t" r="r" b="b"/>
              <a:pathLst>
                <a:path w="1007432" h="770113">
                  <a:moveTo>
                    <a:pt x="46552" y="0"/>
                  </a:moveTo>
                  <a:lnTo>
                    <a:pt x="960880" y="0"/>
                  </a:lnTo>
                  <a:cubicBezTo>
                    <a:pt x="973227" y="0"/>
                    <a:pt x="985067" y="4905"/>
                    <a:pt x="993797" y="13635"/>
                  </a:cubicBezTo>
                  <a:cubicBezTo>
                    <a:pt x="1002527" y="22365"/>
                    <a:pt x="1007432" y="34205"/>
                    <a:pt x="1007432" y="46552"/>
                  </a:cubicBezTo>
                  <a:lnTo>
                    <a:pt x="1007432" y="723562"/>
                  </a:lnTo>
                  <a:cubicBezTo>
                    <a:pt x="1007432" y="735908"/>
                    <a:pt x="1002527" y="747749"/>
                    <a:pt x="993797" y="756479"/>
                  </a:cubicBezTo>
                  <a:cubicBezTo>
                    <a:pt x="985067" y="765209"/>
                    <a:pt x="973227" y="770113"/>
                    <a:pt x="960880" y="770113"/>
                  </a:cubicBezTo>
                  <a:lnTo>
                    <a:pt x="46552" y="770113"/>
                  </a:lnTo>
                  <a:cubicBezTo>
                    <a:pt x="34205" y="770113"/>
                    <a:pt x="22365" y="765209"/>
                    <a:pt x="13635" y="756479"/>
                  </a:cubicBezTo>
                  <a:cubicBezTo>
                    <a:pt x="4905" y="747749"/>
                    <a:pt x="0" y="735908"/>
                    <a:pt x="0" y="723562"/>
                  </a:cubicBezTo>
                  <a:lnTo>
                    <a:pt x="0" y="46552"/>
                  </a:lnTo>
                  <a:cubicBezTo>
                    <a:pt x="0" y="34205"/>
                    <a:pt x="4905" y="22365"/>
                    <a:pt x="13635" y="13635"/>
                  </a:cubicBezTo>
                  <a:cubicBezTo>
                    <a:pt x="22365" y="4905"/>
                    <a:pt x="34205" y="0"/>
                    <a:pt x="46552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007432" cy="836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63576" y="5695037"/>
            <a:ext cx="3825093" cy="2924024"/>
            <a:chOff x="0" y="0"/>
            <a:chExt cx="1007432" cy="7701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7432" cy="770113"/>
            </a:xfrm>
            <a:custGeom>
              <a:avLst/>
              <a:gdLst/>
              <a:ahLst/>
              <a:cxnLst/>
              <a:rect l="l" t="t" r="r" b="b"/>
              <a:pathLst>
                <a:path w="1007432" h="770113">
                  <a:moveTo>
                    <a:pt x="46552" y="0"/>
                  </a:moveTo>
                  <a:lnTo>
                    <a:pt x="960880" y="0"/>
                  </a:lnTo>
                  <a:cubicBezTo>
                    <a:pt x="973227" y="0"/>
                    <a:pt x="985067" y="4905"/>
                    <a:pt x="993797" y="13635"/>
                  </a:cubicBezTo>
                  <a:cubicBezTo>
                    <a:pt x="1002527" y="22365"/>
                    <a:pt x="1007432" y="34205"/>
                    <a:pt x="1007432" y="46552"/>
                  </a:cubicBezTo>
                  <a:lnTo>
                    <a:pt x="1007432" y="723562"/>
                  </a:lnTo>
                  <a:cubicBezTo>
                    <a:pt x="1007432" y="735908"/>
                    <a:pt x="1002527" y="747749"/>
                    <a:pt x="993797" y="756479"/>
                  </a:cubicBezTo>
                  <a:cubicBezTo>
                    <a:pt x="985067" y="765209"/>
                    <a:pt x="973227" y="770113"/>
                    <a:pt x="960880" y="770113"/>
                  </a:cubicBezTo>
                  <a:lnTo>
                    <a:pt x="46552" y="770113"/>
                  </a:lnTo>
                  <a:cubicBezTo>
                    <a:pt x="34205" y="770113"/>
                    <a:pt x="22365" y="765209"/>
                    <a:pt x="13635" y="756479"/>
                  </a:cubicBezTo>
                  <a:cubicBezTo>
                    <a:pt x="4905" y="747749"/>
                    <a:pt x="0" y="735908"/>
                    <a:pt x="0" y="723562"/>
                  </a:cubicBezTo>
                  <a:lnTo>
                    <a:pt x="0" y="46552"/>
                  </a:lnTo>
                  <a:cubicBezTo>
                    <a:pt x="0" y="34205"/>
                    <a:pt x="4905" y="22365"/>
                    <a:pt x="13635" y="13635"/>
                  </a:cubicBezTo>
                  <a:cubicBezTo>
                    <a:pt x="22365" y="4905"/>
                    <a:pt x="34205" y="0"/>
                    <a:pt x="46552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007432" cy="836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0812" y="5695037"/>
            <a:ext cx="3825093" cy="2924024"/>
            <a:chOff x="0" y="0"/>
            <a:chExt cx="1007432" cy="77011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7432" cy="770113"/>
            </a:xfrm>
            <a:custGeom>
              <a:avLst/>
              <a:gdLst/>
              <a:ahLst/>
              <a:cxnLst/>
              <a:rect l="l" t="t" r="r" b="b"/>
              <a:pathLst>
                <a:path w="1007432" h="770113">
                  <a:moveTo>
                    <a:pt x="46552" y="0"/>
                  </a:moveTo>
                  <a:lnTo>
                    <a:pt x="960880" y="0"/>
                  </a:lnTo>
                  <a:cubicBezTo>
                    <a:pt x="973227" y="0"/>
                    <a:pt x="985067" y="4905"/>
                    <a:pt x="993797" y="13635"/>
                  </a:cubicBezTo>
                  <a:cubicBezTo>
                    <a:pt x="1002527" y="22365"/>
                    <a:pt x="1007432" y="34205"/>
                    <a:pt x="1007432" y="46552"/>
                  </a:cubicBezTo>
                  <a:lnTo>
                    <a:pt x="1007432" y="723562"/>
                  </a:lnTo>
                  <a:cubicBezTo>
                    <a:pt x="1007432" y="735908"/>
                    <a:pt x="1002527" y="747749"/>
                    <a:pt x="993797" y="756479"/>
                  </a:cubicBezTo>
                  <a:cubicBezTo>
                    <a:pt x="985067" y="765209"/>
                    <a:pt x="973227" y="770113"/>
                    <a:pt x="960880" y="770113"/>
                  </a:cubicBezTo>
                  <a:lnTo>
                    <a:pt x="46552" y="770113"/>
                  </a:lnTo>
                  <a:cubicBezTo>
                    <a:pt x="34205" y="770113"/>
                    <a:pt x="22365" y="765209"/>
                    <a:pt x="13635" y="756479"/>
                  </a:cubicBezTo>
                  <a:cubicBezTo>
                    <a:pt x="4905" y="747749"/>
                    <a:pt x="0" y="735908"/>
                    <a:pt x="0" y="723562"/>
                  </a:cubicBezTo>
                  <a:lnTo>
                    <a:pt x="0" y="46552"/>
                  </a:lnTo>
                  <a:cubicBezTo>
                    <a:pt x="0" y="34205"/>
                    <a:pt x="4905" y="22365"/>
                    <a:pt x="13635" y="13635"/>
                  </a:cubicBezTo>
                  <a:cubicBezTo>
                    <a:pt x="22365" y="4905"/>
                    <a:pt x="34205" y="0"/>
                    <a:pt x="46552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007432" cy="836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418047" y="5646225"/>
            <a:ext cx="3825093" cy="2924024"/>
            <a:chOff x="0" y="0"/>
            <a:chExt cx="1007432" cy="7701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7432" cy="770113"/>
            </a:xfrm>
            <a:custGeom>
              <a:avLst/>
              <a:gdLst/>
              <a:ahLst/>
              <a:cxnLst/>
              <a:rect l="l" t="t" r="r" b="b"/>
              <a:pathLst>
                <a:path w="1007432" h="770113">
                  <a:moveTo>
                    <a:pt x="46552" y="0"/>
                  </a:moveTo>
                  <a:lnTo>
                    <a:pt x="960880" y="0"/>
                  </a:lnTo>
                  <a:cubicBezTo>
                    <a:pt x="973227" y="0"/>
                    <a:pt x="985067" y="4905"/>
                    <a:pt x="993797" y="13635"/>
                  </a:cubicBezTo>
                  <a:cubicBezTo>
                    <a:pt x="1002527" y="22365"/>
                    <a:pt x="1007432" y="34205"/>
                    <a:pt x="1007432" y="46552"/>
                  </a:cubicBezTo>
                  <a:lnTo>
                    <a:pt x="1007432" y="723562"/>
                  </a:lnTo>
                  <a:cubicBezTo>
                    <a:pt x="1007432" y="735908"/>
                    <a:pt x="1002527" y="747749"/>
                    <a:pt x="993797" y="756479"/>
                  </a:cubicBezTo>
                  <a:cubicBezTo>
                    <a:pt x="985067" y="765209"/>
                    <a:pt x="973227" y="770113"/>
                    <a:pt x="960880" y="770113"/>
                  </a:cubicBezTo>
                  <a:lnTo>
                    <a:pt x="46552" y="770113"/>
                  </a:lnTo>
                  <a:cubicBezTo>
                    <a:pt x="34205" y="770113"/>
                    <a:pt x="22365" y="765209"/>
                    <a:pt x="13635" y="756479"/>
                  </a:cubicBezTo>
                  <a:cubicBezTo>
                    <a:pt x="4905" y="747749"/>
                    <a:pt x="0" y="735908"/>
                    <a:pt x="0" y="723562"/>
                  </a:cubicBezTo>
                  <a:lnTo>
                    <a:pt x="0" y="46552"/>
                  </a:lnTo>
                  <a:cubicBezTo>
                    <a:pt x="0" y="34205"/>
                    <a:pt x="4905" y="22365"/>
                    <a:pt x="13635" y="13635"/>
                  </a:cubicBezTo>
                  <a:cubicBezTo>
                    <a:pt x="22365" y="4905"/>
                    <a:pt x="34205" y="0"/>
                    <a:pt x="46552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007432" cy="836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012540" y="671036"/>
            <a:ext cx="9317633" cy="4472464"/>
          </a:xfrm>
          <a:custGeom>
            <a:avLst/>
            <a:gdLst/>
            <a:ahLst/>
            <a:cxnLst/>
            <a:rect l="l" t="t" r="r" b="b"/>
            <a:pathLst>
              <a:path w="9317633" h="4472464">
                <a:moveTo>
                  <a:pt x="0" y="0"/>
                </a:moveTo>
                <a:lnTo>
                  <a:pt x="9317633" y="0"/>
                </a:lnTo>
                <a:lnTo>
                  <a:pt x="9317633" y="4472464"/>
                </a:lnTo>
                <a:lnTo>
                  <a:pt x="0" y="4472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4117990" y="809625"/>
            <a:ext cx="314131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AUTOMATION •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5962" y="6049558"/>
            <a:ext cx="3216114" cy="127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RECEIVE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Gmail Trigger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36361" y="7443501"/>
            <a:ext cx="3640241" cy="6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7"/>
              </a:lnSpc>
            </a:pPr>
            <a:r>
              <a:rPr lang="en-US" sz="1697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Customer emails enter the support workflow automatically.</a:t>
            </a:r>
          </a:p>
          <a:p>
            <a:pPr algn="ctr">
              <a:lnSpc>
                <a:spcPts val="1697"/>
              </a:lnSpc>
            </a:pPr>
            <a:endParaRPr lang="en-US" sz="1697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452368" y="6049558"/>
            <a:ext cx="3216114" cy="127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UNDERSTAND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Gemini AI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169668" y="7444099"/>
            <a:ext cx="3820503" cy="488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1"/>
              </a:lnSpc>
            </a:pPr>
            <a:r>
              <a:rPr lang="en-US" sz="1781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Classifies requests and extracts customer and order details.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69695" y="6049558"/>
            <a:ext cx="3216114" cy="127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DECIDE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Human Review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331958" y="7444099"/>
            <a:ext cx="3825093" cy="488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784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Unclear or high-risk cases are escalated for human judgement.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735030" y="6049558"/>
            <a:ext cx="3216114" cy="127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ROUTE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n8n + Google Sheets</a:t>
            </a:r>
          </a:p>
          <a:p>
            <a:pPr algn="ctr">
              <a:lnSpc>
                <a:spcPts val="2400"/>
              </a:lnSpc>
            </a:pPr>
            <a:endParaRPr lang="en-US" sz="24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418047" y="7443501"/>
            <a:ext cx="3701889" cy="47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6"/>
              </a:lnSpc>
            </a:pPr>
            <a:r>
              <a:rPr lang="en-US" sz="1726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Logs the case and routes it to the correct response path.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452368" y="9552238"/>
            <a:ext cx="7965679" cy="220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  <a:spcBef>
                <a:spcPct val="0"/>
              </a:spcBef>
            </a:pPr>
            <a:r>
              <a:rPr lang="en-US" sz="1685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Gmail → AI Triage → Human Review → Category Routing → Customer Response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64362" y="809625"/>
            <a:ext cx="3141310" cy="195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  <a:spcBef>
                <a:spcPct val="0"/>
              </a:spcBef>
            </a:pPr>
            <a:r>
              <a:rPr lang="en-US" sz="15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WORKING AUTOMATION — n8n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2540" y="800100"/>
            <a:ext cx="271594" cy="228600"/>
          </a:xfrm>
          <a:custGeom>
            <a:avLst/>
            <a:gdLst/>
            <a:ahLst/>
            <a:cxnLst/>
            <a:rect l="l" t="t" r="r" b="b"/>
            <a:pathLst>
              <a:path w="271594" h="228600">
                <a:moveTo>
                  <a:pt x="0" y="0"/>
                </a:moveTo>
                <a:lnTo>
                  <a:pt x="271593" y="0"/>
                </a:lnTo>
                <a:lnTo>
                  <a:pt x="27159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17990" y="809625"/>
            <a:ext cx="314131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02.05.2030</a:t>
            </a:r>
          </a:p>
        </p:txBody>
      </p:sp>
      <p:sp>
        <p:nvSpPr>
          <p:cNvPr id="4" name="Freeform 4"/>
          <p:cNvSpPr/>
          <p:nvPr/>
        </p:nvSpPr>
        <p:spPr>
          <a:xfrm>
            <a:off x="10173837" y="-3511691"/>
            <a:ext cx="9553024" cy="9553024"/>
          </a:xfrm>
          <a:custGeom>
            <a:avLst/>
            <a:gdLst/>
            <a:ahLst/>
            <a:cxnLst/>
            <a:rect l="l" t="t" r="r" b="b"/>
            <a:pathLst>
              <a:path w="9553024" h="9553024">
                <a:moveTo>
                  <a:pt x="0" y="0"/>
                </a:moveTo>
                <a:lnTo>
                  <a:pt x="9553024" y="0"/>
                </a:lnTo>
                <a:lnTo>
                  <a:pt x="9553024" y="9553024"/>
                </a:lnTo>
                <a:lnTo>
                  <a:pt x="0" y="95530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19720" y="5143500"/>
            <a:ext cx="9219172" cy="9219172"/>
          </a:xfrm>
          <a:custGeom>
            <a:avLst/>
            <a:gdLst/>
            <a:ahLst/>
            <a:cxnLst/>
            <a:rect l="l" t="t" r="r" b="b"/>
            <a:pathLst>
              <a:path w="9219172" h="9219172">
                <a:moveTo>
                  <a:pt x="0" y="0"/>
                </a:moveTo>
                <a:lnTo>
                  <a:pt x="9219171" y="0"/>
                </a:lnTo>
                <a:lnTo>
                  <a:pt x="9219171" y="9219172"/>
                </a:lnTo>
                <a:lnTo>
                  <a:pt x="0" y="9219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8105" y="2333886"/>
            <a:ext cx="8409073" cy="89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00"/>
              </a:lnSpc>
            </a:pPr>
            <a:r>
              <a:rPr lang="en-US" sz="62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Tested on 6 Customer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0" y="2228704"/>
            <a:ext cx="526821" cy="52682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99110" y="313690"/>
                  </a:lnTo>
                  <a:lnTo>
                    <a:pt x="812800" y="406400"/>
                  </a:lnTo>
                  <a:lnTo>
                    <a:pt x="499110" y="499110"/>
                  </a:lnTo>
                  <a:lnTo>
                    <a:pt x="406400" y="812800"/>
                  </a:lnTo>
                  <a:lnTo>
                    <a:pt x="313690" y="499110"/>
                  </a:lnTo>
                  <a:lnTo>
                    <a:pt x="0" y="406400"/>
                  </a:lnTo>
                  <a:lnTo>
                    <a:pt x="313690" y="313690"/>
                  </a:ln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313539" y="246864"/>
              <a:ext cx="185722" cy="252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774" y="4987845"/>
            <a:ext cx="3886907" cy="2258713"/>
            <a:chOff x="0" y="0"/>
            <a:chExt cx="1023712" cy="5948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3712" cy="594887"/>
            </a:xfrm>
            <a:custGeom>
              <a:avLst/>
              <a:gdLst/>
              <a:ahLst/>
              <a:cxnLst/>
              <a:rect l="l" t="t" r="r" b="b"/>
              <a:pathLst>
                <a:path w="1023712" h="594887">
                  <a:moveTo>
                    <a:pt x="45811" y="0"/>
                  </a:moveTo>
                  <a:lnTo>
                    <a:pt x="977901" y="0"/>
                  </a:lnTo>
                  <a:cubicBezTo>
                    <a:pt x="990051" y="0"/>
                    <a:pt x="1001703" y="4827"/>
                    <a:pt x="1010294" y="13418"/>
                  </a:cubicBezTo>
                  <a:cubicBezTo>
                    <a:pt x="1018886" y="22009"/>
                    <a:pt x="1023712" y="33661"/>
                    <a:pt x="1023712" y="45811"/>
                  </a:cubicBezTo>
                  <a:lnTo>
                    <a:pt x="1023712" y="549076"/>
                  </a:lnTo>
                  <a:cubicBezTo>
                    <a:pt x="1023712" y="574377"/>
                    <a:pt x="1003202" y="594887"/>
                    <a:pt x="977901" y="594887"/>
                  </a:cubicBezTo>
                  <a:lnTo>
                    <a:pt x="45811" y="594887"/>
                  </a:lnTo>
                  <a:cubicBezTo>
                    <a:pt x="33661" y="594887"/>
                    <a:pt x="22009" y="590061"/>
                    <a:pt x="13418" y="581470"/>
                  </a:cubicBezTo>
                  <a:cubicBezTo>
                    <a:pt x="4827" y="572878"/>
                    <a:pt x="0" y="561226"/>
                    <a:pt x="0" y="549076"/>
                  </a:cubicBezTo>
                  <a:lnTo>
                    <a:pt x="0" y="45811"/>
                  </a:lnTo>
                  <a:cubicBezTo>
                    <a:pt x="0" y="33661"/>
                    <a:pt x="4827" y="22009"/>
                    <a:pt x="13418" y="13418"/>
                  </a:cubicBezTo>
                  <a:cubicBezTo>
                    <a:pt x="22009" y="4827"/>
                    <a:pt x="33661" y="0"/>
                    <a:pt x="45811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023712" cy="661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9774" y="7646608"/>
            <a:ext cx="3886907" cy="2106478"/>
            <a:chOff x="0" y="0"/>
            <a:chExt cx="1023712" cy="5547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23712" cy="554792"/>
            </a:xfrm>
            <a:custGeom>
              <a:avLst/>
              <a:gdLst/>
              <a:ahLst/>
              <a:cxnLst/>
              <a:rect l="l" t="t" r="r" b="b"/>
              <a:pathLst>
                <a:path w="1023712" h="554792">
                  <a:moveTo>
                    <a:pt x="45811" y="0"/>
                  </a:moveTo>
                  <a:lnTo>
                    <a:pt x="977901" y="0"/>
                  </a:lnTo>
                  <a:cubicBezTo>
                    <a:pt x="990051" y="0"/>
                    <a:pt x="1001703" y="4827"/>
                    <a:pt x="1010294" y="13418"/>
                  </a:cubicBezTo>
                  <a:cubicBezTo>
                    <a:pt x="1018886" y="22009"/>
                    <a:pt x="1023712" y="33661"/>
                    <a:pt x="1023712" y="45811"/>
                  </a:cubicBezTo>
                  <a:lnTo>
                    <a:pt x="1023712" y="508981"/>
                  </a:lnTo>
                  <a:cubicBezTo>
                    <a:pt x="1023712" y="534282"/>
                    <a:pt x="1003202" y="554792"/>
                    <a:pt x="977901" y="554792"/>
                  </a:cubicBezTo>
                  <a:lnTo>
                    <a:pt x="45811" y="554792"/>
                  </a:lnTo>
                  <a:cubicBezTo>
                    <a:pt x="33661" y="554792"/>
                    <a:pt x="22009" y="549966"/>
                    <a:pt x="13418" y="541375"/>
                  </a:cubicBezTo>
                  <a:cubicBezTo>
                    <a:pt x="4827" y="532783"/>
                    <a:pt x="0" y="521131"/>
                    <a:pt x="0" y="508981"/>
                  </a:cubicBezTo>
                  <a:lnTo>
                    <a:pt x="0" y="45811"/>
                  </a:lnTo>
                  <a:cubicBezTo>
                    <a:pt x="0" y="33661"/>
                    <a:pt x="4827" y="22009"/>
                    <a:pt x="13418" y="13418"/>
                  </a:cubicBezTo>
                  <a:cubicBezTo>
                    <a:pt x="22009" y="4827"/>
                    <a:pt x="33661" y="0"/>
                    <a:pt x="45811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023712" cy="621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31816" y="4987845"/>
            <a:ext cx="3813396" cy="2276455"/>
            <a:chOff x="0" y="0"/>
            <a:chExt cx="1004351" cy="599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4351" cy="599560"/>
            </a:xfrm>
            <a:custGeom>
              <a:avLst/>
              <a:gdLst/>
              <a:ahLst/>
              <a:cxnLst/>
              <a:rect l="l" t="t" r="r" b="b"/>
              <a:pathLst>
                <a:path w="1004351" h="599560">
                  <a:moveTo>
                    <a:pt x="46694" y="0"/>
                  </a:moveTo>
                  <a:lnTo>
                    <a:pt x="957657" y="0"/>
                  </a:lnTo>
                  <a:cubicBezTo>
                    <a:pt x="970041" y="0"/>
                    <a:pt x="981918" y="4920"/>
                    <a:pt x="990675" y="13676"/>
                  </a:cubicBezTo>
                  <a:cubicBezTo>
                    <a:pt x="999432" y="22433"/>
                    <a:pt x="1004351" y="34310"/>
                    <a:pt x="1004351" y="46694"/>
                  </a:cubicBezTo>
                  <a:lnTo>
                    <a:pt x="1004351" y="552866"/>
                  </a:lnTo>
                  <a:cubicBezTo>
                    <a:pt x="1004351" y="565250"/>
                    <a:pt x="999432" y="577127"/>
                    <a:pt x="990675" y="585884"/>
                  </a:cubicBezTo>
                  <a:cubicBezTo>
                    <a:pt x="981918" y="594641"/>
                    <a:pt x="970041" y="599560"/>
                    <a:pt x="957657" y="599560"/>
                  </a:cubicBezTo>
                  <a:lnTo>
                    <a:pt x="46694" y="599560"/>
                  </a:lnTo>
                  <a:cubicBezTo>
                    <a:pt x="34310" y="599560"/>
                    <a:pt x="22433" y="594641"/>
                    <a:pt x="13676" y="585884"/>
                  </a:cubicBezTo>
                  <a:cubicBezTo>
                    <a:pt x="4920" y="577127"/>
                    <a:pt x="0" y="565250"/>
                    <a:pt x="0" y="552866"/>
                  </a:cubicBezTo>
                  <a:lnTo>
                    <a:pt x="0" y="46694"/>
                  </a:lnTo>
                  <a:cubicBezTo>
                    <a:pt x="0" y="34310"/>
                    <a:pt x="4920" y="22433"/>
                    <a:pt x="13676" y="13676"/>
                  </a:cubicBezTo>
                  <a:cubicBezTo>
                    <a:pt x="22433" y="4920"/>
                    <a:pt x="34310" y="0"/>
                    <a:pt x="46694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004351" cy="6662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14983" y="4987845"/>
            <a:ext cx="4125794" cy="2258713"/>
            <a:chOff x="0" y="0"/>
            <a:chExt cx="1086629" cy="59488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6629" cy="594887"/>
            </a:xfrm>
            <a:custGeom>
              <a:avLst/>
              <a:gdLst/>
              <a:ahLst/>
              <a:cxnLst/>
              <a:rect l="l" t="t" r="r" b="b"/>
              <a:pathLst>
                <a:path w="1086629" h="594887">
                  <a:moveTo>
                    <a:pt x="43159" y="0"/>
                  </a:moveTo>
                  <a:lnTo>
                    <a:pt x="1043470" y="0"/>
                  </a:lnTo>
                  <a:cubicBezTo>
                    <a:pt x="1067306" y="0"/>
                    <a:pt x="1086629" y="19323"/>
                    <a:pt x="1086629" y="43159"/>
                  </a:cubicBezTo>
                  <a:lnTo>
                    <a:pt x="1086629" y="551729"/>
                  </a:lnTo>
                  <a:cubicBezTo>
                    <a:pt x="1086629" y="575565"/>
                    <a:pt x="1067306" y="594887"/>
                    <a:pt x="1043470" y="594887"/>
                  </a:cubicBezTo>
                  <a:lnTo>
                    <a:pt x="43159" y="594887"/>
                  </a:lnTo>
                  <a:cubicBezTo>
                    <a:pt x="19323" y="594887"/>
                    <a:pt x="0" y="575565"/>
                    <a:pt x="0" y="551729"/>
                  </a:cubicBezTo>
                  <a:lnTo>
                    <a:pt x="0" y="43159"/>
                  </a:lnTo>
                  <a:cubicBezTo>
                    <a:pt x="0" y="19323"/>
                    <a:pt x="19323" y="0"/>
                    <a:pt x="43159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086629" cy="661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31816" y="7646608"/>
            <a:ext cx="3813396" cy="2106478"/>
            <a:chOff x="0" y="0"/>
            <a:chExt cx="1004351" cy="5547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04351" cy="554792"/>
            </a:xfrm>
            <a:custGeom>
              <a:avLst/>
              <a:gdLst/>
              <a:ahLst/>
              <a:cxnLst/>
              <a:rect l="l" t="t" r="r" b="b"/>
              <a:pathLst>
                <a:path w="1004351" h="554792">
                  <a:moveTo>
                    <a:pt x="46694" y="0"/>
                  </a:moveTo>
                  <a:lnTo>
                    <a:pt x="957657" y="0"/>
                  </a:lnTo>
                  <a:cubicBezTo>
                    <a:pt x="970041" y="0"/>
                    <a:pt x="981918" y="4920"/>
                    <a:pt x="990675" y="13676"/>
                  </a:cubicBezTo>
                  <a:cubicBezTo>
                    <a:pt x="999432" y="22433"/>
                    <a:pt x="1004351" y="34310"/>
                    <a:pt x="1004351" y="46694"/>
                  </a:cubicBezTo>
                  <a:lnTo>
                    <a:pt x="1004351" y="508098"/>
                  </a:lnTo>
                  <a:cubicBezTo>
                    <a:pt x="1004351" y="520482"/>
                    <a:pt x="999432" y="532359"/>
                    <a:pt x="990675" y="541116"/>
                  </a:cubicBezTo>
                  <a:cubicBezTo>
                    <a:pt x="981918" y="549873"/>
                    <a:pt x="970041" y="554792"/>
                    <a:pt x="957657" y="554792"/>
                  </a:cubicBezTo>
                  <a:lnTo>
                    <a:pt x="46694" y="554792"/>
                  </a:lnTo>
                  <a:cubicBezTo>
                    <a:pt x="34310" y="554792"/>
                    <a:pt x="22433" y="549873"/>
                    <a:pt x="13676" y="541116"/>
                  </a:cubicBezTo>
                  <a:cubicBezTo>
                    <a:pt x="4920" y="532359"/>
                    <a:pt x="0" y="520482"/>
                    <a:pt x="0" y="508098"/>
                  </a:cubicBezTo>
                  <a:lnTo>
                    <a:pt x="0" y="46694"/>
                  </a:lnTo>
                  <a:cubicBezTo>
                    <a:pt x="0" y="34310"/>
                    <a:pt x="4920" y="22433"/>
                    <a:pt x="13676" y="13676"/>
                  </a:cubicBezTo>
                  <a:cubicBezTo>
                    <a:pt x="22433" y="4920"/>
                    <a:pt x="34310" y="0"/>
                    <a:pt x="46694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1004351" cy="621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614983" y="7646608"/>
            <a:ext cx="4125794" cy="2106478"/>
            <a:chOff x="0" y="0"/>
            <a:chExt cx="1086629" cy="55479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86629" cy="554792"/>
            </a:xfrm>
            <a:custGeom>
              <a:avLst/>
              <a:gdLst/>
              <a:ahLst/>
              <a:cxnLst/>
              <a:rect l="l" t="t" r="r" b="b"/>
              <a:pathLst>
                <a:path w="1086629" h="554792">
                  <a:moveTo>
                    <a:pt x="43159" y="0"/>
                  </a:moveTo>
                  <a:lnTo>
                    <a:pt x="1043470" y="0"/>
                  </a:lnTo>
                  <a:cubicBezTo>
                    <a:pt x="1067306" y="0"/>
                    <a:pt x="1086629" y="19323"/>
                    <a:pt x="1086629" y="43159"/>
                  </a:cubicBezTo>
                  <a:lnTo>
                    <a:pt x="1086629" y="511634"/>
                  </a:lnTo>
                  <a:cubicBezTo>
                    <a:pt x="1086629" y="535470"/>
                    <a:pt x="1067306" y="554792"/>
                    <a:pt x="1043470" y="554792"/>
                  </a:cubicBezTo>
                  <a:lnTo>
                    <a:pt x="43159" y="554792"/>
                  </a:lnTo>
                  <a:cubicBezTo>
                    <a:pt x="19323" y="554792"/>
                    <a:pt x="0" y="535470"/>
                    <a:pt x="0" y="511634"/>
                  </a:cubicBezTo>
                  <a:lnTo>
                    <a:pt x="0" y="43159"/>
                  </a:lnTo>
                  <a:cubicBezTo>
                    <a:pt x="0" y="19323"/>
                    <a:pt x="19323" y="0"/>
                    <a:pt x="43159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1086629" cy="621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0614983" y="0"/>
            <a:ext cx="7673017" cy="4938112"/>
          </a:xfrm>
          <a:custGeom>
            <a:avLst/>
            <a:gdLst/>
            <a:ahLst/>
            <a:cxnLst/>
            <a:rect l="l" t="t" r="r" b="b"/>
            <a:pathLst>
              <a:path w="7673017" h="4938112">
                <a:moveTo>
                  <a:pt x="0" y="0"/>
                </a:moveTo>
                <a:lnTo>
                  <a:pt x="7673017" y="0"/>
                </a:lnTo>
                <a:lnTo>
                  <a:pt x="7673017" y="4938112"/>
                </a:lnTo>
                <a:lnTo>
                  <a:pt x="0" y="49381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8" b="-118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385826" y="809625"/>
            <a:ext cx="392067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dirty="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DIGITEK AI SUPPORT</a:t>
            </a:r>
          </a:p>
          <a:p>
            <a:pPr algn="l">
              <a:lnSpc>
                <a:spcPts val="1500"/>
              </a:lnSpc>
            </a:pPr>
            <a:endParaRPr lang="en-US" sz="1500" dirty="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1500"/>
              </a:lnSpc>
            </a:pPr>
            <a:endParaRPr lang="en-US" sz="1500" dirty="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829469" y="3052591"/>
            <a:ext cx="7841352" cy="89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00"/>
              </a:lnSpc>
            </a:pPr>
            <a:r>
              <a:rPr lang="en-US" sz="620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Scenarios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2540" y="5153025"/>
            <a:ext cx="385414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 — ORDER STATUS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51353" y="5870863"/>
            <a:ext cx="3311379" cy="99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</a:pPr>
            <a:r>
              <a:rPr lang="en-US" sz="2471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Priya</a:t>
            </a:r>
          </a:p>
          <a:p>
            <a:pPr algn="ctr">
              <a:lnSpc>
                <a:spcPts val="2471"/>
              </a:lnSpc>
            </a:pPr>
            <a:r>
              <a:rPr lang="en-US" sz="2471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Order DGT25877</a:t>
            </a:r>
          </a:p>
          <a:p>
            <a:pPr algn="ctr">
              <a:lnSpc>
                <a:spcPts val="2471"/>
              </a:lnSpc>
            </a:pPr>
            <a:r>
              <a:rPr lang="en-US" sz="2471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Human Review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9324" y="5880388"/>
            <a:ext cx="3377567" cy="1005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52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Ankit</a:t>
            </a:r>
          </a:p>
          <a:p>
            <a:pPr algn="ctr">
              <a:lnSpc>
                <a:spcPts val="2520"/>
              </a:lnSpc>
            </a:pPr>
            <a:r>
              <a:rPr lang="en-US" sz="252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Order DGT25412</a:t>
            </a:r>
          </a:p>
          <a:p>
            <a:pPr algn="ctr">
              <a:lnSpc>
                <a:spcPts val="2520"/>
              </a:lnSpc>
            </a:pPr>
            <a:r>
              <a:rPr lang="en-US" sz="252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Human Review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4133" y="8622321"/>
            <a:ext cx="3240204" cy="973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7"/>
              </a:lnSpc>
            </a:pPr>
            <a:r>
              <a:rPr lang="en-US" sz="2417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Gimbal compatibility</a:t>
            </a:r>
          </a:p>
          <a:p>
            <a:pPr algn="ctr">
              <a:lnSpc>
                <a:spcPts val="2417"/>
              </a:lnSpc>
            </a:pPr>
            <a:r>
              <a:rPr lang="en-US" sz="2417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iPhone 15 Pro Max</a:t>
            </a:r>
          </a:p>
          <a:p>
            <a:pPr algn="ctr">
              <a:lnSpc>
                <a:spcPts val="2417"/>
              </a:lnSpc>
            </a:pPr>
            <a:r>
              <a:rPr lang="en-US" sz="2417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Human Review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51193" y="5153025"/>
            <a:ext cx="3511699" cy="66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 — RETURN / REFUND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39687" y="5779160"/>
            <a:ext cx="3173022" cy="1616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52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Rakesh</a:t>
            </a:r>
          </a:p>
          <a:p>
            <a:pPr algn="ctr">
              <a:lnSpc>
                <a:spcPts val="2520"/>
              </a:lnSpc>
            </a:pPr>
            <a:r>
              <a:rPr lang="en-US" sz="252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40 wireless mics + 40 tripods</a:t>
            </a:r>
          </a:p>
          <a:p>
            <a:pPr algn="ctr">
              <a:lnSpc>
                <a:spcPts val="2520"/>
              </a:lnSpc>
            </a:pPr>
            <a:r>
              <a:rPr lang="en-US" sz="252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Human Review</a:t>
            </a:r>
          </a:p>
          <a:p>
            <a:pPr algn="ctr">
              <a:lnSpc>
                <a:spcPts val="2520"/>
              </a:lnSpc>
            </a:pPr>
            <a:endParaRPr lang="en-US" sz="252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18105" y="7847871"/>
            <a:ext cx="4048575" cy="66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 — PRODUCT QUESTION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31816" y="7847871"/>
            <a:ext cx="3519468" cy="390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626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05 — SPAM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78780" y="8495780"/>
            <a:ext cx="3519468" cy="1057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626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Ranking promotion</a:t>
            </a:r>
          </a:p>
          <a:p>
            <a:pPr algn="ctr">
              <a:lnSpc>
                <a:spcPts val="2626"/>
              </a:lnSpc>
            </a:pPr>
            <a:r>
              <a:rPr lang="en-US" sz="2626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Classified as Spam</a:t>
            </a:r>
          </a:p>
          <a:p>
            <a:pPr algn="ctr">
              <a:lnSpc>
                <a:spcPts val="2626"/>
              </a:lnSpc>
            </a:pPr>
            <a:r>
              <a:rPr lang="en-US" sz="2626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No Reply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091369" y="7857396"/>
            <a:ext cx="3215641" cy="34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23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06 — COMPLAINT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50137" y="8280214"/>
            <a:ext cx="3352123" cy="1315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1"/>
              </a:lnSpc>
            </a:pPr>
            <a:r>
              <a:rPr lang="en-US" sz="2501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Sameer</a:t>
            </a:r>
          </a:p>
          <a:p>
            <a:pPr algn="ctr">
              <a:lnSpc>
                <a:spcPts val="2501"/>
              </a:lnSpc>
            </a:pPr>
            <a:r>
              <a:rPr lang="en-US" sz="2501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Refund pending 15 days</a:t>
            </a:r>
          </a:p>
          <a:p>
            <a:pPr algn="ctr">
              <a:lnSpc>
                <a:spcPts val="2501"/>
              </a:lnSpc>
            </a:pPr>
            <a:r>
              <a:rPr lang="en-US" sz="2501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Human Review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91369" y="5144170"/>
            <a:ext cx="3173022" cy="36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520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 — BULK ORDER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42711" y="-3331301"/>
            <a:ext cx="10386711" cy="10386711"/>
          </a:xfrm>
          <a:custGeom>
            <a:avLst/>
            <a:gdLst/>
            <a:ahLst/>
            <a:cxnLst/>
            <a:rect l="l" t="t" r="r" b="b"/>
            <a:pathLst>
              <a:path w="10386711" h="10386711">
                <a:moveTo>
                  <a:pt x="0" y="0"/>
                </a:moveTo>
                <a:lnTo>
                  <a:pt x="10386711" y="0"/>
                </a:lnTo>
                <a:lnTo>
                  <a:pt x="10386711" y="10386710"/>
                </a:lnTo>
                <a:lnTo>
                  <a:pt x="0" y="10386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11926" y="4039145"/>
            <a:ext cx="8520674" cy="8520674"/>
          </a:xfrm>
          <a:custGeom>
            <a:avLst/>
            <a:gdLst/>
            <a:ahLst/>
            <a:cxnLst/>
            <a:rect l="l" t="t" r="r" b="b"/>
            <a:pathLst>
              <a:path w="8520674" h="8520674">
                <a:moveTo>
                  <a:pt x="0" y="0"/>
                </a:moveTo>
                <a:lnTo>
                  <a:pt x="8520674" y="0"/>
                </a:lnTo>
                <a:lnTo>
                  <a:pt x="8520674" y="8520674"/>
                </a:lnTo>
                <a:lnTo>
                  <a:pt x="0" y="852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2540" y="800100"/>
            <a:ext cx="271594" cy="228600"/>
          </a:xfrm>
          <a:custGeom>
            <a:avLst/>
            <a:gdLst/>
            <a:ahLst/>
            <a:cxnLst/>
            <a:rect l="l" t="t" r="r" b="b"/>
            <a:pathLst>
              <a:path w="271594" h="228600">
                <a:moveTo>
                  <a:pt x="0" y="0"/>
                </a:moveTo>
                <a:lnTo>
                  <a:pt x="271593" y="0"/>
                </a:lnTo>
                <a:lnTo>
                  <a:pt x="27159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0" y="1457325"/>
            <a:ext cx="7099265" cy="89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00"/>
              </a:lnSpc>
            </a:pPr>
            <a:r>
              <a:rPr lang="en-US" sz="62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From Manual Work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2367190"/>
            <a:ext cx="6395291" cy="167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00"/>
              </a:lnSpc>
            </a:pPr>
            <a:r>
              <a:rPr lang="en-US" sz="620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to Intelligent Support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979854" y="2365120"/>
            <a:ext cx="526821" cy="52682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99110" y="313690"/>
                  </a:lnTo>
                  <a:lnTo>
                    <a:pt x="812800" y="406400"/>
                  </a:lnTo>
                  <a:lnTo>
                    <a:pt x="499110" y="499110"/>
                  </a:lnTo>
                  <a:lnTo>
                    <a:pt x="406400" y="812800"/>
                  </a:lnTo>
                  <a:lnTo>
                    <a:pt x="313690" y="499110"/>
                  </a:lnTo>
                  <a:lnTo>
                    <a:pt x="0" y="406400"/>
                  </a:lnTo>
                  <a:lnTo>
                    <a:pt x="313690" y="313690"/>
                  </a:ln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313539" y="246864"/>
              <a:ext cx="185722" cy="252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85826" y="809625"/>
            <a:ext cx="407237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DIGITEK AI SUPPORT</a:t>
            </a: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1500"/>
              </a:lnSpc>
            </a:pPr>
            <a:endParaRPr lang="en-US" sz="1500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117990" y="809625"/>
            <a:ext cx="314131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AUTOMATION •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550" y="8132210"/>
            <a:ext cx="6296385" cy="61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536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reduces repetitive triage, logging and acknowledgement work — allowing support teams to focus on decisions that require human judgement.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3523" y="2045918"/>
            <a:ext cx="3087122" cy="148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BEFORE</a:t>
            </a:r>
          </a:p>
          <a:p>
            <a:pPr algn="l">
              <a:lnSpc>
                <a:spcPts val="2499"/>
              </a:lnSpc>
            </a:pPr>
            <a:endParaRPr lang="en-US" sz="24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0" lvl="0" indent="0" algn="l">
              <a:lnSpc>
                <a:spcPts val="2499"/>
              </a:lnSpc>
            </a:pPr>
            <a:r>
              <a:rPr lang="en-US" sz="24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Manual Support</a:t>
            </a:r>
          </a:p>
          <a:p>
            <a:pPr marL="0" lvl="0" indent="0" algn="l">
              <a:lnSpc>
                <a:spcPts val="2499"/>
              </a:lnSpc>
            </a:pPr>
            <a:r>
              <a:rPr lang="en-US" sz="24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~5 min / case</a:t>
            </a:r>
          </a:p>
          <a:p>
            <a:pPr algn="l">
              <a:lnSpc>
                <a:spcPts val="1500"/>
              </a:lnSpc>
            </a:pPr>
            <a:endParaRPr lang="en-US" sz="24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63523" y="3750220"/>
            <a:ext cx="7758174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Read → Classify → Log → Acknowledge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17990" y="7518492"/>
            <a:ext cx="3609425" cy="148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AFTER</a:t>
            </a:r>
          </a:p>
          <a:p>
            <a:pPr algn="l">
              <a:lnSpc>
                <a:spcPts val="2499"/>
              </a:lnSpc>
            </a:pPr>
            <a:endParaRPr lang="en-US" sz="24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0" lvl="0" indent="0" algn="l">
              <a:lnSpc>
                <a:spcPts val="2499"/>
              </a:lnSpc>
            </a:pPr>
            <a:r>
              <a:rPr lang="en-US" sz="24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AI-Assisted Support</a:t>
            </a:r>
          </a:p>
          <a:p>
            <a:pPr marL="0" lvl="0" indent="0" algn="l">
              <a:lnSpc>
                <a:spcPts val="2499"/>
              </a:lnSpc>
            </a:pPr>
            <a:r>
              <a:rPr lang="en-US" sz="24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~1 min / case</a:t>
            </a:r>
          </a:p>
          <a:p>
            <a:pPr algn="l">
              <a:lnSpc>
                <a:spcPts val="1500"/>
              </a:lnSpc>
            </a:pPr>
            <a:endParaRPr lang="en-US" sz="24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117990" y="9118600"/>
            <a:ext cx="4583061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Triage → Extract → Log → Escalate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0439" y="5747432"/>
            <a:ext cx="3087122" cy="70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8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≈80%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93786" y="6332313"/>
            <a:ext cx="6100428" cy="382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699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LESS REPETITIVE HANDLING TIME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3583" y="6724742"/>
            <a:ext cx="4556227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9"/>
              </a:lnSpc>
            </a:pPr>
            <a:r>
              <a:rPr lang="en-US" sz="1999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At 100 cases/day</a:t>
            </a:r>
          </a:p>
          <a:p>
            <a:pPr marL="0" lvl="0" indent="0" algn="l">
              <a:lnSpc>
                <a:spcPts val="1999"/>
              </a:lnSpc>
            </a:pPr>
            <a:r>
              <a:rPr lang="en-US" sz="1999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8.3 hrs manual → 1.7 hrs AI-assisted</a:t>
            </a:r>
          </a:p>
          <a:p>
            <a:pPr algn="l">
              <a:lnSpc>
                <a:spcPts val="2099"/>
              </a:lnSpc>
            </a:pPr>
            <a:r>
              <a:rPr lang="en-US" sz="2099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≈</a:t>
            </a:r>
            <a:r>
              <a:rPr lang="en-US" sz="20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6.7 hrs/day potential saving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42610" y="9823542"/>
            <a:ext cx="7982790" cy="194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0"/>
              </a:lnSpc>
            </a:pPr>
            <a:r>
              <a:rPr lang="en-US" sz="148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Illustrative estimate based on assumed handling times; not a measured production result.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2540" y="800100"/>
            <a:ext cx="271594" cy="228600"/>
          </a:xfrm>
          <a:custGeom>
            <a:avLst/>
            <a:gdLst/>
            <a:ahLst/>
            <a:cxnLst/>
            <a:rect l="l" t="t" r="r" b="b"/>
            <a:pathLst>
              <a:path w="271594" h="228600">
                <a:moveTo>
                  <a:pt x="0" y="0"/>
                </a:moveTo>
                <a:lnTo>
                  <a:pt x="271593" y="0"/>
                </a:lnTo>
                <a:lnTo>
                  <a:pt x="27159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85826" y="809625"/>
            <a:ext cx="314131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DIGITEK AI SUPPORT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17990" y="809625"/>
            <a:ext cx="314131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5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AUTOMATION • 2026</a:t>
            </a:r>
          </a:p>
        </p:txBody>
      </p:sp>
      <p:sp>
        <p:nvSpPr>
          <p:cNvPr id="5" name="Freeform 5"/>
          <p:cNvSpPr/>
          <p:nvPr/>
        </p:nvSpPr>
        <p:spPr>
          <a:xfrm>
            <a:off x="-3187488" y="-2760586"/>
            <a:ext cx="11031157" cy="11031157"/>
          </a:xfrm>
          <a:custGeom>
            <a:avLst/>
            <a:gdLst/>
            <a:ahLst/>
            <a:cxnLst/>
            <a:rect l="l" t="t" r="r" b="b"/>
            <a:pathLst>
              <a:path w="11031157" h="11031157">
                <a:moveTo>
                  <a:pt x="0" y="0"/>
                </a:moveTo>
                <a:lnTo>
                  <a:pt x="11031158" y="0"/>
                </a:lnTo>
                <a:lnTo>
                  <a:pt x="11031158" y="11031157"/>
                </a:lnTo>
                <a:lnTo>
                  <a:pt x="0" y="11031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31511" y="5928691"/>
            <a:ext cx="6201064" cy="6201064"/>
          </a:xfrm>
          <a:custGeom>
            <a:avLst/>
            <a:gdLst/>
            <a:ahLst/>
            <a:cxnLst/>
            <a:rect l="l" t="t" r="r" b="b"/>
            <a:pathLst>
              <a:path w="6201064" h="6201064">
                <a:moveTo>
                  <a:pt x="0" y="0"/>
                </a:moveTo>
                <a:lnTo>
                  <a:pt x="6201063" y="0"/>
                </a:lnTo>
                <a:lnTo>
                  <a:pt x="6201063" y="6201064"/>
                </a:lnTo>
                <a:lnTo>
                  <a:pt x="0" y="6201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44000" y="2333352"/>
            <a:ext cx="6544645" cy="89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00"/>
              </a:lnSpc>
            </a:pPr>
            <a:r>
              <a:rPr lang="en-US" sz="62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Automation With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3052058"/>
            <a:ext cx="6001317" cy="245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620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Guardrails</a:t>
            </a:r>
          </a:p>
          <a:p>
            <a:pPr algn="l">
              <a:lnSpc>
                <a:spcPts val="6200"/>
              </a:lnSpc>
            </a:pPr>
            <a:endParaRPr lang="en-US" sz="6200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6200"/>
              </a:lnSpc>
            </a:pPr>
            <a:endParaRPr lang="en-US" sz="6200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4881906" y="2960847"/>
            <a:ext cx="526821" cy="52682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99110" y="313690"/>
                  </a:lnTo>
                  <a:lnTo>
                    <a:pt x="812800" y="406400"/>
                  </a:lnTo>
                  <a:lnTo>
                    <a:pt x="499110" y="499110"/>
                  </a:lnTo>
                  <a:lnTo>
                    <a:pt x="406400" y="812800"/>
                  </a:lnTo>
                  <a:lnTo>
                    <a:pt x="313690" y="499110"/>
                  </a:lnTo>
                  <a:lnTo>
                    <a:pt x="0" y="406400"/>
                  </a:lnTo>
                  <a:lnTo>
                    <a:pt x="313690" y="313690"/>
                  </a:lnTo>
                  <a:close/>
                </a:path>
              </a:pathLst>
            </a:custGeom>
            <a:solidFill>
              <a:srgbClr val="FFFAF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313539" y="246864"/>
              <a:ext cx="185722" cy="252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5826" y="5200263"/>
            <a:ext cx="4398110" cy="3342503"/>
            <a:chOff x="0" y="0"/>
            <a:chExt cx="939203" cy="7137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9203" cy="713781"/>
            </a:xfrm>
            <a:custGeom>
              <a:avLst/>
              <a:gdLst/>
              <a:ahLst/>
              <a:cxnLst/>
              <a:rect l="l" t="t" r="r" b="b"/>
              <a:pathLst>
                <a:path w="939203" h="713781">
                  <a:moveTo>
                    <a:pt x="40487" y="0"/>
                  </a:moveTo>
                  <a:lnTo>
                    <a:pt x="898716" y="0"/>
                  </a:lnTo>
                  <a:cubicBezTo>
                    <a:pt x="909454" y="0"/>
                    <a:pt x="919752" y="4266"/>
                    <a:pt x="927345" y="11858"/>
                  </a:cubicBezTo>
                  <a:cubicBezTo>
                    <a:pt x="934937" y="19451"/>
                    <a:pt x="939203" y="29749"/>
                    <a:pt x="939203" y="40487"/>
                  </a:cubicBezTo>
                  <a:lnTo>
                    <a:pt x="939203" y="673295"/>
                  </a:lnTo>
                  <a:cubicBezTo>
                    <a:pt x="939203" y="684032"/>
                    <a:pt x="934937" y="694330"/>
                    <a:pt x="927345" y="701923"/>
                  </a:cubicBezTo>
                  <a:cubicBezTo>
                    <a:pt x="919752" y="709516"/>
                    <a:pt x="909454" y="713781"/>
                    <a:pt x="898716" y="713781"/>
                  </a:cubicBezTo>
                  <a:lnTo>
                    <a:pt x="40487" y="713781"/>
                  </a:lnTo>
                  <a:cubicBezTo>
                    <a:pt x="29749" y="713781"/>
                    <a:pt x="19451" y="709516"/>
                    <a:pt x="11858" y="701923"/>
                  </a:cubicBezTo>
                  <a:cubicBezTo>
                    <a:pt x="4266" y="694330"/>
                    <a:pt x="0" y="684032"/>
                    <a:pt x="0" y="673295"/>
                  </a:cubicBezTo>
                  <a:lnTo>
                    <a:pt x="0" y="40487"/>
                  </a:lnTo>
                  <a:cubicBezTo>
                    <a:pt x="0" y="29749"/>
                    <a:pt x="4266" y="19451"/>
                    <a:pt x="11858" y="11858"/>
                  </a:cubicBezTo>
                  <a:cubicBezTo>
                    <a:pt x="19451" y="4266"/>
                    <a:pt x="29749" y="0"/>
                    <a:pt x="40487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939203" cy="78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66517" y="5200263"/>
            <a:ext cx="4398110" cy="3342503"/>
            <a:chOff x="0" y="0"/>
            <a:chExt cx="939203" cy="7137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9203" cy="713781"/>
            </a:xfrm>
            <a:custGeom>
              <a:avLst/>
              <a:gdLst/>
              <a:ahLst/>
              <a:cxnLst/>
              <a:rect l="l" t="t" r="r" b="b"/>
              <a:pathLst>
                <a:path w="939203" h="713781">
                  <a:moveTo>
                    <a:pt x="40487" y="0"/>
                  </a:moveTo>
                  <a:lnTo>
                    <a:pt x="898716" y="0"/>
                  </a:lnTo>
                  <a:cubicBezTo>
                    <a:pt x="909454" y="0"/>
                    <a:pt x="919752" y="4266"/>
                    <a:pt x="927345" y="11858"/>
                  </a:cubicBezTo>
                  <a:cubicBezTo>
                    <a:pt x="934937" y="19451"/>
                    <a:pt x="939203" y="29749"/>
                    <a:pt x="939203" y="40487"/>
                  </a:cubicBezTo>
                  <a:lnTo>
                    <a:pt x="939203" y="673295"/>
                  </a:lnTo>
                  <a:cubicBezTo>
                    <a:pt x="939203" y="684032"/>
                    <a:pt x="934937" y="694330"/>
                    <a:pt x="927345" y="701923"/>
                  </a:cubicBezTo>
                  <a:cubicBezTo>
                    <a:pt x="919752" y="709516"/>
                    <a:pt x="909454" y="713781"/>
                    <a:pt x="898716" y="713781"/>
                  </a:cubicBezTo>
                  <a:lnTo>
                    <a:pt x="40487" y="713781"/>
                  </a:lnTo>
                  <a:cubicBezTo>
                    <a:pt x="29749" y="713781"/>
                    <a:pt x="19451" y="709516"/>
                    <a:pt x="11858" y="701923"/>
                  </a:cubicBezTo>
                  <a:cubicBezTo>
                    <a:pt x="4266" y="694330"/>
                    <a:pt x="0" y="684032"/>
                    <a:pt x="0" y="673295"/>
                  </a:cubicBezTo>
                  <a:lnTo>
                    <a:pt x="0" y="40487"/>
                  </a:lnTo>
                  <a:cubicBezTo>
                    <a:pt x="0" y="29749"/>
                    <a:pt x="4266" y="19451"/>
                    <a:pt x="11858" y="11858"/>
                  </a:cubicBezTo>
                  <a:cubicBezTo>
                    <a:pt x="19451" y="4266"/>
                    <a:pt x="29749" y="0"/>
                    <a:pt x="40487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939203" cy="78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747207" y="5200263"/>
            <a:ext cx="4398110" cy="3342503"/>
            <a:chOff x="0" y="0"/>
            <a:chExt cx="939203" cy="7137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9203" cy="713781"/>
            </a:xfrm>
            <a:custGeom>
              <a:avLst/>
              <a:gdLst/>
              <a:ahLst/>
              <a:cxnLst/>
              <a:rect l="l" t="t" r="r" b="b"/>
              <a:pathLst>
                <a:path w="939203" h="713781">
                  <a:moveTo>
                    <a:pt x="40487" y="0"/>
                  </a:moveTo>
                  <a:lnTo>
                    <a:pt x="898716" y="0"/>
                  </a:lnTo>
                  <a:cubicBezTo>
                    <a:pt x="909454" y="0"/>
                    <a:pt x="919752" y="4266"/>
                    <a:pt x="927345" y="11858"/>
                  </a:cubicBezTo>
                  <a:cubicBezTo>
                    <a:pt x="934937" y="19451"/>
                    <a:pt x="939203" y="29749"/>
                    <a:pt x="939203" y="40487"/>
                  </a:cubicBezTo>
                  <a:lnTo>
                    <a:pt x="939203" y="673295"/>
                  </a:lnTo>
                  <a:cubicBezTo>
                    <a:pt x="939203" y="684032"/>
                    <a:pt x="934937" y="694330"/>
                    <a:pt x="927345" y="701923"/>
                  </a:cubicBezTo>
                  <a:cubicBezTo>
                    <a:pt x="919752" y="709516"/>
                    <a:pt x="909454" y="713781"/>
                    <a:pt x="898716" y="713781"/>
                  </a:cubicBezTo>
                  <a:lnTo>
                    <a:pt x="40487" y="713781"/>
                  </a:lnTo>
                  <a:cubicBezTo>
                    <a:pt x="29749" y="713781"/>
                    <a:pt x="19451" y="709516"/>
                    <a:pt x="11858" y="701923"/>
                  </a:cubicBezTo>
                  <a:cubicBezTo>
                    <a:pt x="4266" y="694330"/>
                    <a:pt x="0" y="684032"/>
                    <a:pt x="0" y="673295"/>
                  </a:cubicBezTo>
                  <a:lnTo>
                    <a:pt x="0" y="40487"/>
                  </a:lnTo>
                  <a:cubicBezTo>
                    <a:pt x="0" y="29749"/>
                    <a:pt x="4266" y="19451"/>
                    <a:pt x="11858" y="11858"/>
                  </a:cubicBezTo>
                  <a:cubicBezTo>
                    <a:pt x="19451" y="4266"/>
                    <a:pt x="29749" y="0"/>
                    <a:pt x="40487" y="0"/>
                  </a:cubicBezTo>
                  <a:close/>
                </a:path>
              </a:pathLst>
            </a:custGeom>
            <a:solidFill>
              <a:srgbClr val="0A0A0A"/>
            </a:solidFill>
            <a:ln w="95250" cap="rnd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939203" cy="78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974102" y="5744328"/>
            <a:ext cx="3216114" cy="193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5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LIVE DATA</a:t>
            </a:r>
          </a:p>
          <a:p>
            <a:pPr algn="ctr">
              <a:lnSpc>
                <a:spcPts val="2599"/>
              </a:lnSpc>
            </a:pPr>
            <a:endParaRPr lang="en-US" sz="25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ctr">
              <a:lnSpc>
                <a:spcPts val="2599"/>
              </a:lnSpc>
            </a:pPr>
            <a:endParaRPr lang="en-US" sz="25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Escalate when tracking or refund status is unavailable.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21261" y="5744328"/>
            <a:ext cx="3465912" cy="193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5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AI UNCERTAINTY</a:t>
            </a:r>
          </a:p>
          <a:p>
            <a:pPr algn="ctr">
              <a:lnSpc>
                <a:spcPts val="2599"/>
              </a:lnSpc>
            </a:pPr>
            <a:endParaRPr lang="en-US" sz="25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ctr">
              <a:lnSpc>
                <a:spcPts val="2599"/>
              </a:lnSpc>
            </a:pPr>
            <a:endParaRPr lang="en-US" sz="25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Low confidence or missing information → human review.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08773" y="5744328"/>
            <a:ext cx="3674977" cy="221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599" b="1">
                <a:solidFill>
                  <a:srgbClr val="FFFA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AUTOMATION CONTROL</a:t>
            </a:r>
          </a:p>
          <a:p>
            <a:pPr algn="ctr">
              <a:lnSpc>
                <a:spcPts val="2400"/>
              </a:lnSpc>
            </a:pPr>
            <a:endParaRPr lang="en-US" sz="25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ctr">
              <a:lnSpc>
                <a:spcPts val="2400"/>
              </a:lnSpc>
            </a:pPr>
            <a:endParaRPr lang="en-US" sz="2599" b="1">
              <a:solidFill>
                <a:srgbClr val="FFFAFA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No invented pricing, stock or compatibility claims.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0494" y="2073716"/>
            <a:ext cx="4897127" cy="185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7"/>
              </a:lnSpc>
            </a:pPr>
            <a:r>
              <a:rPr lang="en-US" sz="2037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AI prepares the case.</a:t>
            </a:r>
          </a:p>
          <a:p>
            <a:pPr algn="ctr">
              <a:lnSpc>
                <a:spcPts val="2037"/>
              </a:lnSpc>
            </a:pPr>
            <a:r>
              <a:rPr lang="en-US" sz="2037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Humans make the decisions.</a:t>
            </a:r>
          </a:p>
          <a:p>
            <a:pPr algn="ctr">
              <a:lnSpc>
                <a:spcPts val="2037"/>
              </a:lnSpc>
            </a:pPr>
            <a:endParaRPr lang="en-US" sz="2037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2037"/>
              </a:lnSpc>
            </a:pPr>
            <a:r>
              <a:rPr lang="en-US" sz="2037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Faster. Safer. More consistent.</a:t>
            </a:r>
          </a:p>
          <a:p>
            <a:pPr algn="ctr">
              <a:lnSpc>
                <a:spcPts val="2037"/>
              </a:lnSpc>
            </a:pPr>
            <a:endParaRPr lang="en-US" sz="2037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2037"/>
              </a:lnSpc>
            </a:pPr>
            <a:r>
              <a:rPr lang="en-US" sz="2037">
                <a:solidFill>
                  <a:srgbClr val="FFFAFA"/>
                </a:solidFill>
                <a:latin typeface="Telegraf"/>
                <a:ea typeface="Telegraf"/>
                <a:cs typeface="Telegraf"/>
                <a:sym typeface="Telegraf"/>
              </a:rPr>
              <a:t>Human-in-the-loop by design</a:t>
            </a:r>
          </a:p>
          <a:p>
            <a:pPr algn="ctr">
              <a:lnSpc>
                <a:spcPts val="2303"/>
              </a:lnSpc>
            </a:pPr>
            <a:endParaRPr lang="en-US" sz="2037">
              <a:solidFill>
                <a:srgbClr val="FFFAFA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488</Words>
  <Application>Microsoft Office PowerPoint</Application>
  <PresentationFormat>Custom</PresentationFormat>
  <Paragraphs>137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Canva Sans Bold</vt:lpstr>
      <vt:lpstr>Telegraf Bold</vt:lpstr>
      <vt:lpstr>Arial</vt:lpstr>
      <vt:lpstr>Telegraf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Modern AI Future Presentation</dc:title>
  <dc:creator>Leisha Nampally</dc:creator>
  <cp:lastModifiedBy>Leisha Nampally</cp:lastModifiedBy>
  <cp:revision>4</cp:revision>
  <dcterms:created xsi:type="dcterms:W3CDTF">2006-08-16T00:00:00Z</dcterms:created>
  <dcterms:modified xsi:type="dcterms:W3CDTF">2026-10-08T15:42:08Z</dcterms:modified>
  <dc:identifier>DAHXWym2FOQ</dc:identifier>
</cp:coreProperties>
</file>